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4114800" cy="347472"/>
          </a:xfrm>
          <a:prstGeom prst="roundRect">
            <a:avLst/>
          </a:prstGeom>
          <a:solidFill>
            <a:srgbClr val="23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🌲 URBAN AI INFRASTRUCTURE • HALIFAX REGIONAL MUNICIPALITY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AF8F5"/>
                </a:solidFill>
              </a:defRPr>
            </a:pPr>
            <a:r>
              <a:t>CanopyGuard: Which Tree Falls First?</a:t>
            </a:r>
          </a:p>
          <a:p>
            <a:pPr>
              <a:spcAft>
                <a:spcPts val="1000"/>
              </a:spcAft>
              <a:defRPr sz="1700">
                <a:solidFill>
                  <a:srgbClr val="C2DEC0"/>
                </a:solidFill>
              </a:defRPr>
            </a:pPr>
            <a:r>
              <a:t>Predictive Urban Hazard Triage Protecting Cities, Power Grids &amp; Human Lives</a:t>
            </a:r>
          </a:p>
          <a:p>
            <a:pPr>
              <a:defRPr sz="1200" b="1">
                <a:solidFill>
                  <a:srgbClr val="ECF6EA"/>
                </a:solidFill>
              </a:defRPr>
            </a:pPr>
            <a:r>
              <a:t>Presented by: Devang Jalag • Ketan Khunti • Sanif • Tarun  |  Team Lambda Legends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3337560" cy="3749039"/>
          </a:xfrm>
          <a:prstGeom prst="roundRect">
            <a:avLst/>
          </a:prstGeom>
          <a:solidFill>
            <a:srgbClr val="18361D"/>
          </a:solidFill>
          <a:ln w="19050">
            <a:solidFill>
              <a:srgbClr val="437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907792"/>
            <a:ext cx="2825496" cy="32369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B382"/>
                </a:solidFill>
              </a:defRPr>
            </a:pPr>
            <a:r>
              <a:t>[$12M+ MUNICIPAL RISK]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⚠️ Blind Backlog Crisis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290+ unranked complaints stuck in obsolete first-come FIFO queue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Lethal deadwood over schoolyards waits behind cosmetic branch pruning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Atlantic gale storms turn ignored trunk splits into fatal power blackouts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Cities face millions in wrongful death &amp; infrastructure liability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651760"/>
            <a:ext cx="3337560" cy="3749039"/>
          </a:xfrm>
          <a:prstGeom prst="roundRect">
            <a:avLst/>
          </a:prstGeom>
          <a:solidFill>
            <a:srgbClr val="18361D"/>
          </a:solidFill>
          <a:ln w="19050">
            <a:solidFill>
              <a:srgbClr val="437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907792"/>
            <a:ext cx="2825496" cy="32369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4DE9D"/>
                </a:solidFill>
              </a:defRPr>
            </a:pPr>
            <a:r>
              <a:t>[85% EFFICIENCY GAIN]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⚡ Instant Automated Triage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Replaces 3-week backlog with sub-second priority scoring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Dynamic 0–100 scale: 50% Danger, 25% Wait, 15% Location, 10% Review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Real HRM open data synchronized live across 80,000+ public trees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One-click printable arborist incident posters for immediate truck rollout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2651760"/>
            <a:ext cx="3337560" cy="3749039"/>
          </a:xfrm>
          <a:prstGeom prst="roundRect">
            <a:avLst/>
          </a:prstGeom>
          <a:solidFill>
            <a:srgbClr val="18361D"/>
          </a:solidFill>
          <a:ln w="19050">
            <a:solidFill>
              <a:srgbClr val="437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3" y="2907792"/>
            <a:ext cx="2825496" cy="32369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090"/>
                </a:solidFill>
              </a:defRPr>
            </a:pPr>
            <a:r>
              <a:t>[UNBREAKABLE MOAT]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👁 Anti-Gaming Vision AI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LlamaParse + Vision LLM extracts arborist defect taxonomy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80% photo weighting stops panic-word queue jumpers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Cross-examines claim text against visual root &amp; wire proof</a:t>
            </a:r>
          </a:p>
          <a:p>
            <a:pPr>
              <a:spcAft>
                <a:spcPts val="800"/>
              </a:spcAft>
              <a:defRPr sz="1150">
                <a:solidFill>
                  <a:srgbClr val="DFEEDC"/>
                </a:solidFill>
              </a:defRPr>
            </a:pPr>
            <a:r>
              <a:t>•  Unsure guardrails prevent hallucinations before dispatch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2926080" cy="347472"/>
          </a:xfrm>
          <a:prstGeom prst="roundRect">
            <a:avLst/>
          </a:prstGeom>
          <a:solidFill>
            <a:srgbClr val="FCEEDE"/>
          </a:solidFill>
          <a:ln>
            <a:solidFill>
              <a:srgbClr val="BC6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BC6C25"/>
                </a:solidFill>
              </a:defRPr>
            </a:pPr>
            <a:r>
              <a:t>📈 SCALE &amp; SHAREHOLDER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0E2213"/>
                </a:solidFill>
              </a:defRPr>
            </a:pPr>
            <a:r>
              <a:t>The High-ROI Solution: Scalable Risk Triage &amp; Monetization</a:t>
            </a:r>
          </a:p>
          <a:p>
            <a:pPr>
              <a:defRPr sz="1600">
                <a:solidFill>
                  <a:srgbClr val="56645C"/>
                </a:solidFill>
              </a:defRPr>
            </a:pPr>
            <a:r>
              <a:t>Enterprise Architecture, Direct Municipal ROI, and Nationwide SaaS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87752"/>
            <a:ext cx="2825496" cy="2962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7A3B"/>
                </a:solidFill>
              </a:defRPr>
            </a:pPr>
            <a:r>
              <a:t>[ENTERPRISE CLOUD MOAT]</a:t>
            </a:r>
          </a:p>
          <a:p>
            <a:pPr>
              <a:spcAft>
                <a:spcPts val="1200"/>
              </a:spcAft>
              <a:defRPr sz="1600" b="1">
                <a:solidFill>
                  <a:srgbClr val="0E2213"/>
                </a:solidFill>
              </a:defRPr>
            </a:pPr>
            <a:r>
              <a:t>☁ Cloud-Native Stack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Google Cloud Storage: Automated public blob bucket (tree-hazard-images-503718)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Google Maps Platform: Dual-layer geocoding &amp; static street inspections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Supabase PostgreSQL: Immutable municipal audit trail &amp; arborist logs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Zero-delay Node.js + React 19: Tested, 100% CI pass rate, production-ready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33172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587752"/>
            <a:ext cx="2825496" cy="2962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BC6C25"/>
                </a:solidFill>
              </a:defRPr>
            </a:pPr>
            <a:r>
              <a:t>[DIRECT FINANCIAL ROI]</a:t>
            </a:r>
          </a:p>
          <a:p>
            <a:pPr>
              <a:spcAft>
                <a:spcPts val="1200"/>
              </a:spcAft>
              <a:defRPr sz="1600" b="1">
                <a:solidFill>
                  <a:srgbClr val="0E2213"/>
                </a:solidFill>
              </a:defRPr>
            </a:pPr>
            <a:r>
              <a:t>💰 Massive Cost Savings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$2.4M saved per 100k residents in avoided storm grid repair &amp; liability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60% reduction in truck rolls: Arborists dispatched only with verified photo evidence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Proximity route clustering: Slashes crew travel fuel and deadhead miles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Fair &amp; equitable: Transparent math protects underserved neighborhoods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233172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3" y="2587752"/>
            <a:ext cx="2825496" cy="2962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D5648"/>
                </a:solidFill>
              </a:defRPr>
            </a:pPr>
            <a:r>
              <a:t>[MARKET EXPANSION]</a:t>
            </a:r>
          </a:p>
          <a:p>
            <a:pPr>
              <a:spcAft>
                <a:spcPts val="1200"/>
              </a:spcAft>
              <a:defRPr sz="1600" b="1">
                <a:solidFill>
                  <a:srgbClr val="0E2213"/>
                </a:solidFill>
              </a:defRPr>
            </a:pPr>
            <a:r>
              <a:t>🚀 $1.8B Municipal TAM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4,200+ North American cities operate on the same broken 311 tree queue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Plug-and-play ArcGIS connector allows turnkey municipal onboarding in &lt; 48 hours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Insurance &amp; utility partnership upside: powerline vegetation monitoring contracts</a:t>
            </a:r>
          </a:p>
          <a:p>
            <a:pPr>
              <a:spcAft>
                <a:spcPts val="800"/>
              </a:spcAft>
              <a:defRPr sz="1150">
                <a:solidFill>
                  <a:srgbClr val="19231D"/>
                </a:solidFill>
              </a:defRPr>
            </a:pPr>
            <a:r>
              <a:t>•  Proven &amp; validated today in Halifax Regional Municipality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61888"/>
            <a:ext cx="10543032" cy="621792"/>
          </a:xfrm>
          <a:prstGeom prst="roundRect">
            <a:avLst/>
          </a:prstGeom>
          <a:solidFill>
            <a:srgbClr val="0E2213"/>
          </a:solidFill>
          <a:ln>
            <a:solidFill>
              <a:srgbClr val="437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🌲 Thank You! Let's Protect Cities &amp; Power Grids Together.  |  Questions &amp; Demonstration • Team Lambda Legends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