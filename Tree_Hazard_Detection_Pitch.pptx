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371600"/>
            <a:ext cx="2926080" cy="384048"/>
          </a:xfrm>
          <a:prstGeom prst="roundRect">
            <a:avLst/>
          </a:prstGeom>
          <a:solidFill>
            <a:srgbClr val="4F7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HALIFAX URBAN FORESTRY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600" b="1">
                <a:solidFill>
                  <a:srgbClr val="FAF8F5"/>
                </a:solidFill>
                <a:latin typeface="Calibri"/>
              </a:defRPr>
            </a:pPr>
            <a:r>
              <a:t>Which Tree Falls First?</a:t>
            </a:r>
          </a:p>
          <a:p>
            <a:pPr>
              <a:defRPr sz="2200">
                <a:solidFill>
                  <a:srgbClr val="C2DCB8"/>
                </a:solidFill>
                <a:latin typeface="Calibri"/>
              </a:defRPr>
            </a:pPr>
            <a:r>
              <a:t>Automated Tree Hazard Detection &amp; Priority Triage Platform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4572000"/>
            <a:ext cx="3291840" cy="1371600"/>
          </a:xfrm>
          <a:prstGeom prst="roundRect">
            <a:avLst/>
          </a:prstGeom>
          <a:solidFill>
            <a:srgbClr val="1F3E22"/>
          </a:solidFill>
          <a:ln>
            <a:solidFill>
              <a:srgbClr val="4F7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🌳 80,000+ HRM Trees</a:t>
            </a:r>
          </a:p>
          <a:p>
            <a:pPr>
              <a:defRPr sz="1100">
                <a:solidFill>
                  <a:srgbClr val="D0E2CB"/>
                </a:solidFill>
              </a:defRPr>
            </a:pPr>
            <a:r>
              <a:t>Real municipal inventory data synchronized live from ArcGIS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4572000"/>
            <a:ext cx="3291840" cy="1371600"/>
          </a:xfrm>
          <a:prstGeom prst="roundRect">
            <a:avLst/>
          </a:prstGeom>
          <a:solidFill>
            <a:srgbClr val="1F3E22"/>
          </a:solidFill>
          <a:ln>
            <a:solidFill>
              <a:srgbClr val="4F7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⚡ Real-Time Triage</a:t>
            </a:r>
          </a:p>
          <a:p>
            <a:pPr>
              <a:defRPr sz="1100">
                <a:solidFill>
                  <a:srgbClr val="D0E2CB"/>
                </a:solidFill>
              </a:defRPr>
            </a:pPr>
            <a:r>
              <a:t>Multi-factor algorithm ranks pending complaints by real danger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4572000"/>
            <a:ext cx="3383280" cy="1371600"/>
          </a:xfrm>
          <a:prstGeom prst="roundRect">
            <a:avLst/>
          </a:prstGeom>
          <a:solidFill>
            <a:srgbClr val="1F3E22"/>
          </a:solidFill>
          <a:ln>
            <a:solidFill>
              <a:srgbClr val="BC6C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FFFFF"/>
                </a:solidFill>
              </a:defRPr>
            </a:pPr>
            <a:r>
              <a:t>👁 Anti-Gaming AI</a:t>
            </a:r>
          </a:p>
          <a:p>
            <a:pPr>
              <a:defRPr sz="1100">
                <a:solidFill>
                  <a:srgbClr val="F1D4BC"/>
                </a:solidFill>
              </a:defRPr>
            </a:pPr>
            <a:r>
              <a:t>Photo-first verification prevents queue jumping and false alarms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6C25"/>
                </a:solidFill>
                <a:latin typeface="Calibri"/>
              </a:defRPr>
            </a:pPr>
            <a:r>
              <a:t>CURRENT MUNICIPAL CRISIS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32A13"/>
                </a:solidFill>
                <a:latin typeface="Calibri"/>
              </a:defRPr>
            </a:pPr>
            <a:r>
              <a:t>The Problem: Backlog &amp; Blind Prioritization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645920" cy="36576"/>
          </a:xfrm>
          <a:prstGeom prst="rect">
            <a:avLst/>
          </a:prstGeom>
          <a:solidFill>
            <a:srgbClr val="4F7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Overwhelmed Queues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290+ pending citizen complaints with zero automated triage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Months of backlog waiting for manual arborist visits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Routine pruning requests mixed directly with high-risk deadfall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Field crews dispatched with no advance hazard intelligence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Flawed First-Come FIFO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Complaints inspected strictly by arrival date, not threat level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A rotting tree over a school waits behind cosmetic branch trims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Atlantic storm events rapidly turn overlooked trees into emergencies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Property damage and power outages occur while crews inspect minor calls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214884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Subjective Reporting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Citizens exaggerate minor issues using dramatic buzzwords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True critical hazards described calmly get deprioritized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Staff spend hours manually verifying false alarms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No objective verification mechanism between report text and reality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6C25"/>
                </a:solidFill>
                <a:latin typeface="Calibri"/>
              </a:defRPr>
            </a:pPr>
            <a:r>
              <a:t>CORE DECISION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32A13"/>
                </a:solidFill>
                <a:latin typeface="Calibri"/>
              </a:defRPr>
            </a:pPr>
            <a:r>
              <a:t>Transparent Multi-Factor Risk Formula (0–100)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645920" cy="36576"/>
          </a:xfrm>
          <a:prstGeom prst="rect">
            <a:avLst/>
          </a:prstGeom>
          <a:solidFill>
            <a:srgbClr val="4F7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50% — Hazard &amp; Physical Danger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Physical defects: deadwood, root rot, trunk split, severe lean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Direct targets: electrical lines, roadway clearance, structures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Evidence synthesis: photo proof takes precedence over keywords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25% — Wait Time Escalation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Linear escalation curve: 0 to 180 days (capped at 100 pts)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Guarantees aging complaints will not be permanently starved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Balanced so low-risk calls never leapfrog immediate emergencies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43484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15% — Location &amp; Public Impact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High-traffic arterials (Spring Garden, Robie) scored 75–100 pts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Residential side streets scored 40–50 pts; parks 20–30 pts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Evaluates density of pedestrian, transit, and vehicular traffic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43484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10% — Data Review &amp; Confidence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Vague descriptions with missing photos receive 100 pt review penalty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High confidence verified photos receive 0 pt penalty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Forces inspection verification when evidence is incomplete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6C25"/>
                </a:solidFill>
                <a:latin typeface="Calibri"/>
              </a:defRPr>
            </a:pPr>
            <a:r>
              <a:t>AI &amp; TRUST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32A13"/>
                </a:solidFill>
                <a:latin typeface="Calibri"/>
              </a:defRPr>
            </a:pPr>
            <a:r>
              <a:t>Anti-Gaming: Photo-First Evidence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645920" cy="36576"/>
          </a:xfrm>
          <a:prstGeom prst="rect">
            <a:avLst/>
          </a:prstGeom>
          <a:solidFill>
            <a:srgbClr val="4F7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Photo-First Weighting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Visual proof weighted 65%–80% over textual descriptions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LlamaParse + Vision LLM extracts arborist defect taxonomy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Detects actual structural issues: fungal conks, canopy dieback, wire contact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Keyword stuffing no longer inflates complaint 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Conflict Detection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Cross-examines citizen text against uploaded field photography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Identifies 'Critical Emergency' claims paired with healthy saplings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Leans heavily into objective image evidence when text conflicts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Penalizes deceptive claims while expediting genuine hazards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214884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Hallucination Guardrails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Ambiguous images automatically classified as 'Unsure'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Uncertain cases flagged for mandatory arborist human review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Explainable AI reasoning string generated for every score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Zero black-box decisions — every point is auditable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6C25"/>
                </a:solidFill>
                <a:latin typeface="Calibri"/>
              </a:defRPr>
            </a:pPr>
            <a:r>
              <a:t>GEOSPATIAL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32A13"/>
                </a:solidFill>
                <a:latin typeface="Calibri"/>
              </a:defRPr>
            </a:pPr>
            <a:r>
              <a:t>Real Halifax Data &amp; Google Maps Integration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645920" cy="36576"/>
          </a:xfrm>
          <a:prstGeom prst="rect">
            <a:avLst/>
          </a:prstGeom>
          <a:solidFill>
            <a:srgbClr val="4F7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80,000+ HRM Tree Inventory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Live sync with Halifax Regional Municipality ArcGIS REST API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Matches complaints to exact asset ID, species, and trunk diameter (DBH)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Identifies historical planting date, health status, and wire presence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Live 311 Service Call Feed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Direct integration with municipal 311 call queues and wrapups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Correlates citizen hotline calls with field incident reports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Tracks call duration, talk time, and dispatch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43484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Google Maps Geocoding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Dual-layer geocoding: backend proxy with client-side fallback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Resolves informal Halifax street addresses to high-precision lat/long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Normalized to Halifax regional bounding box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43484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Google Static Maps Inspection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Instant visual street context directly inside complaint dossier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Shows powerline corridors, sidewalks, and cross-streets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Zero-latency lightweight image generation without heavy map SDK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6C25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32A13"/>
                </a:solidFill>
                <a:latin typeface="Calibri"/>
              </a:defRPr>
            </a:pPr>
            <a:r>
              <a:t>Cloud Infrastructure &amp; Full-Stack Tech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645920" cy="36576"/>
          </a:xfrm>
          <a:prstGeom prst="rect">
            <a:avLst/>
          </a:prstGeom>
          <a:solidFill>
            <a:srgbClr val="4F7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Google Cloud Platform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Bucket: tree-hazard-images-503718 (US-Central1)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Automated upload &amp; public URL streaming for citizen field photos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Google Maps Geocoding &amp; Static Maps APIs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Service account key auth with secure environment isolation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Backend &amp; Intelligence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Node.js 18+ streaming server with zero external framework dependencies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Multi-step AI pipeline: LlamaParse photo parser + Vision LLM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Supabase PostgreSQL schema for persistent complaints &amp; audit trails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In-memory caching for sub-10ms dashboard loads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214884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Frontend &amp; Testing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React 19 + TypeScript + Vite modern reactive interface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Tailwind CSS v4 with tree/earth arborist styling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Lucide icons + printable arborist dispatch posters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Vitest test suite with automated GitHub Actions CI pipeline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6C25"/>
                </a:solidFill>
                <a:latin typeface="Calibri"/>
              </a:defRPr>
            </a:pPr>
            <a:r>
              <a:t>FIELD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32A13"/>
                </a:solidFill>
                <a:latin typeface="Calibri"/>
              </a:defRPr>
            </a:pPr>
            <a:r>
              <a:t>Arborist Field Dispatch &amp; Incident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645920" cy="36576"/>
          </a:xfrm>
          <a:prstGeom prst="rect">
            <a:avLst/>
          </a:prstGeom>
          <a:solidFill>
            <a:srgbClr val="4F7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Automated Printable Incident Posters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One-click printable arborist field dossier formatted for trucks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Prominent QR code, GPS coordinates, defect tags, and photo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Clean printer-friendly CSS stylesheet hides navigation bars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14884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Real-Time Priority Dashboard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Live triage sorting: Critical (80+), High (60+), Medium, Low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Visual hazard tags: Hanging Limb, Wires, Rot, Split, Cavity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Instant filtering by priority status, neighborhood, and search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4114800"/>
            <a:ext cx="50292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434840"/>
            <a:ext cx="43891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Citizen Submission Portal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Simple, accessible mobile web form for Halifax residents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Instant camera photo upload with automatic address geocoding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Immediate tracking ID and transparent status updates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1206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4434840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Proximity &amp; Shift Route Planning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Clusters neighboring high-priority complaints for efficient truck routes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Eliminates wasteful zig-zag driving across HRM regional boundaries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Cuts crew fuel consumption and speeds up emergency response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BC6C25"/>
                </a:solidFill>
                <a:latin typeface="Calibri"/>
              </a:defRPr>
            </a:pPr>
            <a:r>
              <a:t>VALUE &amp; COMMUNITY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32A13"/>
                </a:solidFill>
                <a:latin typeface="Calibri"/>
              </a:defRPr>
            </a:pPr>
            <a:r>
              <a:t>Measurable Impact &amp; Municipal ROI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1645920" cy="36576"/>
          </a:xfrm>
          <a:prstGeom prst="rect">
            <a:avLst/>
          </a:prstGeom>
          <a:solidFill>
            <a:srgbClr val="4F77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1488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Operational Speed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85% reduction in initial triage turnaround (hours down to seconds)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Immediate identification of lethal hazards upon report submission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Eliminates arborist commute time spent investigating fake reports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Automated batch processing scores entire queue in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9184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2148840"/>
            <a:ext cx="26517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Public Safety &amp; Storms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Catastrophic deadfalls caught before Atlantic wind and ice storms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High-risk trees cleared near schools, hospitals, and powerlines first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Fewer prolonged power grid blackouts caused by falling limbs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Substantial reduction in municipal property liability claims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1828800"/>
            <a:ext cx="3383280" cy="4297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DD8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19" y="2148840"/>
            <a:ext cx="27432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  <a:defRPr sz="1700" b="1">
                <a:solidFill>
                  <a:srgbClr val="132A13"/>
                </a:solidFill>
                <a:latin typeface="Calibri"/>
              </a:defRPr>
            </a:pPr>
            <a:r>
              <a:t>Equity &amp; Trust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Every neighborhood evaluated by the same objective mathematical formula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Loudest or most persistent callers cannot leapfrog dangerous trees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Aging complaints automatically escalate so no community is forgotten</a:t>
            </a:r>
          </a:p>
          <a:p>
            <a:pPr>
              <a:spcAft>
                <a:spcPts val="900"/>
              </a:spcAft>
              <a:defRPr sz="1300">
                <a:solidFill>
                  <a:srgbClr val="1B241E"/>
                </a:solidFill>
                <a:latin typeface="Calibri"/>
              </a:defRPr>
            </a:pPr>
            <a:r>
              <a:t>•  100% auditable arborist decision trail for municipal governance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A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AF8F5"/>
                </a:solidFill>
                <a:latin typeface="Calibri"/>
              </a:defRPr>
            </a:pPr>
            <a:r>
              <a:t>Protecting Halifax's Urban Canopy.</a:t>
            </a:r>
          </a:p>
          <a:p>
            <a:pPr>
              <a:defRPr sz="2000">
                <a:solidFill>
                  <a:srgbClr val="C2DCB8"/>
                </a:solidFill>
                <a:latin typeface="Calibri"/>
              </a:defRPr>
            </a:pPr>
            <a:r>
              <a:t>Objective • Transparent • Cloud-Native • Life-Saving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3474720"/>
            <a:ext cx="10515600" cy="2468880"/>
          </a:xfrm>
          <a:prstGeom prst="roundRect">
            <a:avLst/>
          </a:prstGeom>
          <a:solidFill>
            <a:srgbClr val="1F3E22"/>
          </a:solidFill>
          <a:ln>
            <a:solidFill>
              <a:srgbClr val="4F7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b="1" sz="1800">
                <a:solidFill>
                  <a:srgbClr val="FFFFFF"/>
                </a:solidFill>
              </a:defRPr>
            </a:pPr>
            <a:r>
              <a:t>Key Takeaways:</a:t>
            </a:r>
          </a:p>
          <a:p>
            <a:pPr>
              <a:spcAft>
                <a:spcPts val="800"/>
              </a:spcAft>
              <a:defRPr sz="1400">
                <a:solidFill>
                  <a:srgbClr val="E0EFDC"/>
                </a:solidFill>
              </a:defRPr>
            </a:pPr>
            <a:r>
              <a:t>✔  Replaced flawed first-come FIFO queue with a dynamic 0–100 risk scoring formula</a:t>
            </a:r>
          </a:p>
          <a:p>
            <a:pPr>
              <a:spcAft>
                <a:spcPts val="800"/>
              </a:spcAft>
              <a:defRPr sz="1400">
                <a:solidFill>
                  <a:srgbClr val="E0EFDC"/>
                </a:solidFill>
              </a:defRPr>
            </a:pPr>
            <a:r>
              <a:t>✔  Anti-gaming AI ensures photos verify citizen claims before arborist truck rollouts</a:t>
            </a:r>
          </a:p>
          <a:p>
            <a:pPr>
              <a:spcAft>
                <a:spcPts val="800"/>
              </a:spcAft>
              <a:defRPr sz="1400">
                <a:solidFill>
                  <a:srgbClr val="E0EFDC"/>
                </a:solidFill>
              </a:defRPr>
            </a:pPr>
            <a:r>
              <a:t>✔  Unified cloud infrastructure: GCP Storage, Google Maps Geocoding, Supabase, Node &amp; React 19</a:t>
            </a:r>
          </a:p>
          <a:p>
            <a:pPr>
              <a:spcAft>
                <a:spcPts val="800"/>
              </a:spcAft>
              <a:defRPr sz="1400">
                <a:solidFill>
                  <a:srgbClr val="E0EFDC"/>
                </a:solidFill>
              </a:defRPr>
            </a:pPr>
            <a:r>
              <a:t>✔  Ready for live deployment across Halifax Regional Municipality Urban Forestry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